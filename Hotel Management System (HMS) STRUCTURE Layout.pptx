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73" r:id="rId2"/>
    <p:sldId id="282" r:id="rId3"/>
    <p:sldId id="281" r:id="rId4"/>
    <p:sldId id="288" r:id="rId5"/>
    <p:sldId id="287" r:id="rId6"/>
    <p:sldId id="28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  <a:srgbClr val="6E4AF4"/>
    <a:srgbClr val="0434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374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285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4E49BC-F890-977A-DA93-E28B0D1B1E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39C4C8-6A20-C907-16A4-3EE8A0AE40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9DCF2-0DA5-4871-AA47-2178C9D4C2BF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1D73E-6CF4-204B-1970-1AE6A960C9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80037-D1EE-EF0F-1C97-B708E7AC6FA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7A9824-54C7-4C35-8D9D-91E9B3DD1A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6738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235F4-072E-4C8C-93F4-4D8874794CF3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03FDE-46E3-4638-962C-551EC95CD2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450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8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0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5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30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5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8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25014" y="6356350"/>
            <a:ext cx="648000" cy="365125"/>
          </a:xfrm>
        </p:spPr>
        <p:txBody>
          <a:bodyPr/>
          <a:lstStyle>
            <a:lvl1pPr algn="ctr">
              <a:defRPr sz="1400"/>
            </a:lvl1pPr>
          </a:lstStyle>
          <a:p>
            <a:fld id="{C5E56D81-ED03-47E3-A033-4F239A0BC0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36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AC20D9-5A57-4403-8DF1-54554DA8B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B392E79-3BC2-FF94-CA71-9D84440075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63346" y="870542"/>
            <a:ext cx="3761696" cy="27432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20DEBDD-5F40-DB51-3D6E-7D2BC34079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50282" y="3613150"/>
            <a:ext cx="3801380" cy="27432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57D0CE-709D-48AA-1EC7-35CD044E5B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870542"/>
            <a:ext cx="4649788" cy="548580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3C071674-6E10-6F79-B3DB-606F954A6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51662" y="870542"/>
            <a:ext cx="3657600" cy="548580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4732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8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3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66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31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-The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3097530"/>
            <a:ext cx="28575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9029" y="1471749"/>
            <a:ext cx="646619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rgbClr val="E81C28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176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hyperlink" Target="mailto:teyteyley3@gam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-52252"/>
            <a:ext cx="12305210" cy="691025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00764" y="6356350"/>
            <a:ext cx="648000" cy="365125"/>
          </a:xfrm>
          <a:prstGeom prst="rect">
            <a:avLst/>
          </a:prstGeom>
          <a:solidFill>
            <a:srgbClr val="6E4AF4"/>
          </a:solid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5E56D81-ED03-47E3-A033-4F239A0BC01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8199" y="6299891"/>
            <a:ext cx="9363892" cy="307777"/>
          </a:xfrm>
          <a:prstGeom prst="rect">
            <a:avLst/>
          </a:prstGeom>
          <a:solidFill>
            <a:srgbClr val="04340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0000"/>
                </a:solidFill>
              </a:rPr>
              <a:t>Proprietary</a:t>
            </a:r>
            <a:r>
              <a:rPr lang="en-US" sz="1400" b="1" dirty="0">
                <a:solidFill>
                  <a:schemeClr val="bg1"/>
                </a:solidFill>
              </a:rPr>
              <a:t> 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Abdurahman Mohammed Abdurahman: 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hlinkClick r:id="rId16"/>
              </a:rPr>
              <a:t>teyteyley3@gamil.com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   </a:t>
            </a:r>
            <a:r>
              <a:rPr lang="en-US" sz="1400" b="1" dirty="0">
                <a:solidFill>
                  <a:srgbClr val="FF0000"/>
                </a:solidFill>
              </a:rPr>
              <a:t># Restricted Distribution</a:t>
            </a:r>
          </a:p>
        </p:txBody>
      </p:sp>
    </p:spTree>
    <p:extLst>
      <p:ext uri="{BB962C8B-B14F-4D97-AF65-F5344CB8AC3E}">
        <p14:creationId xmlns:p14="http://schemas.microsoft.com/office/powerpoint/2010/main" val="1471528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3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912731-A59C-B895-B836-325D04804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t>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D98A5-0CB6-C610-BD54-6AE9BB91E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86" y="-144379"/>
            <a:ext cx="5178080" cy="480914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772F5E-8191-8288-8080-82BAFE93E6FF}"/>
              </a:ext>
            </a:extLst>
          </p:cNvPr>
          <p:cNvGrpSpPr/>
          <p:nvPr/>
        </p:nvGrpSpPr>
        <p:grpSpPr>
          <a:xfrm>
            <a:off x="66260" y="5564625"/>
            <a:ext cx="12070080" cy="731520"/>
            <a:chOff x="64101" y="5775158"/>
            <a:chExt cx="12114061" cy="10026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C858C28-D42A-250F-3F88-CDE6E0DEB49F}"/>
                </a:ext>
              </a:extLst>
            </p:cNvPr>
            <p:cNvSpPr/>
            <p:nvPr/>
          </p:nvSpPr>
          <p:spPr>
            <a:xfrm>
              <a:off x="64101" y="5775158"/>
              <a:ext cx="9244999" cy="1002632"/>
            </a:xfrm>
            <a:prstGeom prst="rect">
              <a:avLst/>
            </a:prstGeom>
            <a:solidFill>
              <a:srgbClr val="043402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atin typeface="Verdana" panose="020B0604030504040204" pitchFamily="34" charset="0"/>
                  <a:ea typeface="Verdana" panose="020B0604030504040204" pitchFamily="34" charset="0"/>
                </a:rPr>
                <a:t>Hotel Management System (HMS)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CE03DB2-F44D-FACB-7783-473C6F9E1A09}"/>
                </a:ext>
              </a:extLst>
            </p:cNvPr>
            <p:cNvSpPr/>
            <p:nvPr/>
          </p:nvSpPr>
          <p:spPr>
            <a:xfrm>
              <a:off x="9322939" y="5775158"/>
              <a:ext cx="2855223" cy="1002632"/>
            </a:xfrm>
            <a:prstGeom prst="rect">
              <a:avLst/>
            </a:prstGeom>
            <a:solidFill>
              <a:srgbClr val="6E4AF4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Verdana" panose="020B0604030504040204" pitchFamily="34" charset="0"/>
                  <a:ea typeface="Verdana" panose="020B0604030504040204" pitchFamily="34" charset="0"/>
                </a:rPr>
                <a:t>Scope &amp; Definitions</a:t>
              </a:r>
              <a:endParaRPr lang="en-US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833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450C7-2879-5354-0828-0F6C9390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5FA161-4995-CF8F-8DBA-07A62253F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11B690-AAF3-9A1A-FFDA-123733EB9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8" y="16766"/>
            <a:ext cx="12169792" cy="633958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D386AAB-DA6F-2FFA-593F-C94F1DFE8B63}"/>
              </a:ext>
            </a:extLst>
          </p:cNvPr>
          <p:cNvSpPr txBox="1"/>
          <p:nvPr/>
        </p:nvSpPr>
        <p:spPr>
          <a:xfrm>
            <a:off x="525193" y="1261053"/>
            <a:ext cx="113057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fontAlgn="base"/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In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this project, I will present a small, simple desktop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web-application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to manage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HMS.</a:t>
            </a:r>
          </a:p>
          <a:p>
            <a:pPr fontAlgn="base"/>
            <a:endParaRPr lang="en-US" sz="2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Manage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check-ins, check-outs, room assignments, and booking</a:t>
            </a: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Tracks room status (dirty, clean, under maintenance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pPr marL="285750" indent="-285750" fontAlgn="base"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Enhancing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guest experience, increase data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accuracy, provide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secure and centralized hotel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management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4" name="Callout: Right Arrow 43">
            <a:extLst>
              <a:ext uri="{FF2B5EF4-FFF2-40B4-BE49-F238E27FC236}">
                <a16:creationId xmlns:a16="http://schemas.microsoft.com/office/drawing/2014/main" id="{FE0CE4F8-38D8-8E90-CB75-AB51D75B333D}"/>
              </a:ext>
            </a:extLst>
          </p:cNvPr>
          <p:cNvSpPr/>
          <p:nvPr/>
        </p:nvSpPr>
        <p:spPr>
          <a:xfrm>
            <a:off x="74460" y="79947"/>
            <a:ext cx="2513429" cy="805505"/>
          </a:xfrm>
          <a:prstGeom prst="rightArrowCallout">
            <a:avLst>
              <a:gd name="adj1" fmla="val 20238"/>
              <a:gd name="adj2" fmla="val 13095"/>
              <a:gd name="adj3" fmla="val 25000"/>
              <a:gd name="adj4" fmla="val 83056"/>
            </a:avLst>
          </a:prstGeom>
          <a:solidFill>
            <a:srgbClr val="726E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Project Scope</a:t>
            </a:r>
          </a:p>
        </p:txBody>
      </p:sp>
    </p:spTree>
    <p:extLst>
      <p:ext uri="{BB962C8B-B14F-4D97-AF65-F5344CB8AC3E}">
        <p14:creationId xmlns:p14="http://schemas.microsoft.com/office/powerpoint/2010/main" val="88431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FD49E-F0D4-7F59-92E1-D1E014A0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88156C-5264-EF6B-0689-E4FA2C30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E11809-D778-DFF8-8F03-4E99B683C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4" y="-45592"/>
            <a:ext cx="12169792" cy="63395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2A3D8A-E7E5-0D99-486B-8AEF91DF565E}"/>
              </a:ext>
            </a:extLst>
          </p:cNvPr>
          <p:cNvSpPr txBox="1"/>
          <p:nvPr/>
        </p:nvSpPr>
        <p:spPr>
          <a:xfrm>
            <a:off x="99560" y="104503"/>
            <a:ext cx="11992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Hotel Management System (HMS) Definitions </a:t>
            </a: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content……..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505096-65E8-C6BB-3874-8D0E72B35264}"/>
              </a:ext>
            </a:extLst>
          </p:cNvPr>
          <p:cNvSpPr txBox="1"/>
          <p:nvPr/>
        </p:nvSpPr>
        <p:spPr>
          <a:xfrm>
            <a:off x="287382" y="1075958"/>
            <a:ext cx="11585631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HMS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is a web-based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application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developed to automate and manage hotel operations efficiently. </a:t>
            </a: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This little HMS I m developed is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web-based system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consists of a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frontend interface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a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backend server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and a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database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that work together to handle core hotel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services.</a:t>
            </a:r>
          </a:p>
          <a:p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Additionally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the system integrates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Computer Vision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, especially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face recognition technology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to enhance guest identification and improve the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check-in experience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  <a:p>
            <a:r>
              <a:rPr lang="en-US" sz="2000" b="1" i="1" dirty="0" smtClean="0">
                <a:latin typeface="Verdana" panose="020B0604030504040204" pitchFamily="34" charset="0"/>
                <a:ea typeface="Verdana" panose="020B0604030504040204" pitchFamily="34" charset="0"/>
              </a:rPr>
              <a:t>The register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</a:rPr>
              <a:t>guests can be </a:t>
            </a:r>
            <a:r>
              <a:rPr lang="en-US" sz="2000" b="1" i="1" dirty="0" smtClean="0">
                <a:latin typeface="Verdana" panose="020B0604030504040204" pitchFamily="34" charset="0"/>
                <a:ea typeface="Verdana" panose="020B0604030504040204" pitchFamily="34" charset="0"/>
              </a:rPr>
              <a:t>recognize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</a:rPr>
              <a:t>using facial </a:t>
            </a:r>
            <a:r>
              <a:rPr lang="en-US" sz="2000" b="1" i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The goal of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this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project is to improve operational efficiency, enhance guest experience, increase data accuracy, and provide secure and centralized hotel management</a:t>
            </a:r>
          </a:p>
          <a:p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2602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A18E1B-1C32-6893-DD0C-0556F933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F08D28-971A-2883-92D3-72E8599E4850}"/>
              </a:ext>
            </a:extLst>
          </p:cNvPr>
          <p:cNvSpPr txBox="1"/>
          <p:nvPr/>
        </p:nvSpPr>
        <p:spPr>
          <a:xfrm>
            <a:off x="2569029" y="174630"/>
            <a:ext cx="7053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36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STRUCTURE SYSTEM </a:t>
            </a:r>
            <a:endParaRPr lang="en-US" sz="36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42914" y="1320569"/>
            <a:ext cx="11706171" cy="4520995"/>
            <a:chOff x="334165" y="1242192"/>
            <a:chExt cx="11706171" cy="4520995"/>
          </a:xfrm>
        </p:grpSpPr>
        <p:sp>
          <p:nvSpPr>
            <p:cNvPr id="6" name="Double Bracket 5">
              <a:extLst>
                <a:ext uri="{FF2B5EF4-FFF2-40B4-BE49-F238E27FC236}">
                  <a16:creationId xmlns:a16="http://schemas.microsoft.com/office/drawing/2014/main" id="{DAC122AF-12F4-344F-CF8C-0FE26214E7DE}"/>
                </a:ext>
              </a:extLst>
            </p:cNvPr>
            <p:cNvSpPr/>
            <p:nvPr/>
          </p:nvSpPr>
          <p:spPr>
            <a:xfrm>
              <a:off x="2556178" y="2893001"/>
              <a:ext cx="1828800" cy="822960"/>
            </a:xfrm>
            <a:prstGeom prst="bracketPair">
              <a:avLst/>
            </a:prstGeom>
            <a:solidFill>
              <a:srgbClr val="304B7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Customer 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management (CRM)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D52CE34-2ED6-4EE1-87C5-5290FF21995E}"/>
                </a:ext>
              </a:extLst>
            </p:cNvPr>
            <p:cNvSpPr/>
            <p:nvPr/>
          </p:nvSpPr>
          <p:spPr>
            <a:xfrm>
              <a:off x="5163398" y="3849689"/>
              <a:ext cx="1828800" cy="640080"/>
            </a:xfrm>
            <a:prstGeom prst="roundRect">
              <a:avLst/>
            </a:prstGeom>
            <a:solidFill>
              <a:srgbClr val="5503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 smtClean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ctr"/>
              <a:r>
                <a:rPr lang="en-US" dirty="0" smtClean="0">
                  <a:latin typeface="Verdana" panose="020B0604030504040204" pitchFamily="34" charset="0"/>
                  <a:ea typeface="Verdana" panose="020B0604030504040204" pitchFamily="34" charset="0"/>
                </a:rPr>
                <a:t>Frontend </a:t>
              </a:r>
              <a:r>
                <a:rPr lang="en-US" dirty="0">
                  <a:latin typeface="Verdana" panose="020B0604030504040204" pitchFamily="34" charset="0"/>
                  <a:ea typeface="Verdana" panose="020B0604030504040204" pitchFamily="34" charset="0"/>
                </a:rPr>
                <a:t>(UI)</a:t>
              </a:r>
              <a:br>
                <a:rPr lang="en-US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endParaRPr lang="en-US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" name="Double Bracket 7">
              <a:extLst>
                <a:ext uri="{FF2B5EF4-FFF2-40B4-BE49-F238E27FC236}">
                  <a16:creationId xmlns:a16="http://schemas.microsoft.com/office/drawing/2014/main" id="{A3C0FBDB-1712-FF89-97BC-09784BF82856}"/>
                </a:ext>
              </a:extLst>
            </p:cNvPr>
            <p:cNvSpPr/>
            <p:nvPr/>
          </p:nvSpPr>
          <p:spPr>
            <a:xfrm>
              <a:off x="2556178" y="3874754"/>
              <a:ext cx="1828800" cy="822960"/>
            </a:xfrm>
            <a:prstGeom prst="bracketPair">
              <a:avLst/>
            </a:prstGeom>
            <a:solidFill>
              <a:srgbClr val="304B7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Verdana" panose="020B0604030504040204" pitchFamily="34" charset="0"/>
                  <a:ea typeface="Verdana" panose="020B0604030504040204" pitchFamily="34" charset="0"/>
                </a:rPr>
                <a:t>Booking Management</a:t>
              </a: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" name="Double Bracket 8">
              <a:extLst>
                <a:ext uri="{FF2B5EF4-FFF2-40B4-BE49-F238E27FC236}">
                  <a16:creationId xmlns:a16="http://schemas.microsoft.com/office/drawing/2014/main" id="{EEA8D29D-7725-A208-CD7B-8F96EB19E944}"/>
                </a:ext>
              </a:extLst>
            </p:cNvPr>
            <p:cNvSpPr/>
            <p:nvPr/>
          </p:nvSpPr>
          <p:spPr>
            <a:xfrm>
              <a:off x="2556178" y="4927984"/>
              <a:ext cx="1828800" cy="822960"/>
            </a:xfrm>
            <a:prstGeom prst="bracketPair">
              <a:avLst/>
            </a:prstGeom>
            <a:solidFill>
              <a:srgbClr val="304B7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Verdana" panose="020B0604030504040204" pitchFamily="34" charset="0"/>
                  <a:ea typeface="Verdana" panose="020B0604030504040204" pitchFamily="34" charset="0"/>
                </a:rPr>
                <a:t>Payment Management</a:t>
              </a: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0" name="Double Bracket 9">
              <a:extLst>
                <a:ext uri="{FF2B5EF4-FFF2-40B4-BE49-F238E27FC236}">
                  <a16:creationId xmlns:a16="http://schemas.microsoft.com/office/drawing/2014/main" id="{0BE8A2E8-B383-B2EC-022C-395298063A56}"/>
                </a:ext>
              </a:extLst>
            </p:cNvPr>
            <p:cNvSpPr/>
            <p:nvPr/>
          </p:nvSpPr>
          <p:spPr>
            <a:xfrm>
              <a:off x="6214865" y="2148413"/>
              <a:ext cx="1364146" cy="640080"/>
            </a:xfrm>
            <a:prstGeom prst="bracketPair">
              <a:avLst/>
            </a:prstGeom>
            <a:solidFill>
              <a:srgbClr val="304B7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Real 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facial </a:t>
              </a:r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feature</a:t>
              </a: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" name="Double Bracket 10">
              <a:extLst>
                <a:ext uri="{FF2B5EF4-FFF2-40B4-BE49-F238E27FC236}">
                  <a16:creationId xmlns:a16="http://schemas.microsoft.com/office/drawing/2014/main" id="{022305E2-B72D-BC3B-1188-C93DC2CEDF3D}"/>
                </a:ext>
              </a:extLst>
            </p:cNvPr>
            <p:cNvSpPr/>
            <p:nvPr/>
          </p:nvSpPr>
          <p:spPr>
            <a:xfrm>
              <a:off x="4465506" y="2148413"/>
              <a:ext cx="1521000" cy="640080"/>
            </a:xfrm>
            <a:prstGeom prst="bracketPair">
              <a:avLst/>
            </a:prstGeom>
            <a:solidFill>
              <a:srgbClr val="304B7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Verdana" panose="020B0604030504040204" pitchFamily="34" charset="0"/>
                  <a:ea typeface="Verdana" panose="020B0604030504040204" pitchFamily="34" charset="0"/>
                </a:rPr>
                <a:t>Room Management</a:t>
              </a: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6549EEC-6E8D-8C28-A4A2-77E51D39B11F}"/>
                </a:ext>
              </a:extLst>
            </p:cNvPr>
            <p:cNvSpPr/>
            <p:nvPr/>
          </p:nvSpPr>
          <p:spPr>
            <a:xfrm>
              <a:off x="7683515" y="3848248"/>
              <a:ext cx="1828800" cy="640080"/>
            </a:xfrm>
            <a:prstGeom prst="roundRect">
              <a:avLst/>
            </a:prstGeom>
            <a:solidFill>
              <a:srgbClr val="0F610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Verdana" panose="020B0604030504040204" pitchFamily="34" charset="0"/>
                  <a:ea typeface="Verdana" panose="020B0604030504040204" pitchFamily="34" charset="0"/>
                </a:rPr>
                <a:t>Backend API</a:t>
              </a:r>
            </a:p>
          </p:txBody>
        </p:sp>
        <p:sp>
          <p:nvSpPr>
            <p:cNvPr id="13" name="Double Bracket 12">
              <a:extLst>
                <a:ext uri="{FF2B5EF4-FFF2-40B4-BE49-F238E27FC236}">
                  <a16:creationId xmlns:a16="http://schemas.microsoft.com/office/drawing/2014/main" id="{3ACF0988-9FFE-BA93-9B71-1CA1CF895C07}"/>
                </a:ext>
              </a:extLst>
            </p:cNvPr>
            <p:cNvSpPr/>
            <p:nvPr/>
          </p:nvSpPr>
          <p:spPr>
            <a:xfrm>
              <a:off x="8112048" y="2194133"/>
              <a:ext cx="1371600" cy="548640"/>
            </a:xfrm>
            <a:prstGeom prst="bracketPair">
              <a:avLst/>
            </a:prstGeom>
            <a:solidFill>
              <a:srgbClr val="304B7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API</a:t>
              </a:r>
              <a:endParaRPr lang="en-US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2870FA7-BE3F-BC07-F4AC-45B6F3DB84AC}"/>
                </a:ext>
              </a:extLst>
            </p:cNvPr>
            <p:cNvSpPr/>
            <p:nvPr/>
          </p:nvSpPr>
          <p:spPr>
            <a:xfrm>
              <a:off x="10211536" y="3848248"/>
              <a:ext cx="1828800" cy="640080"/>
            </a:xfrm>
            <a:prstGeom prst="roundRect">
              <a:avLst/>
            </a:prstGeom>
            <a:solidFill>
              <a:srgbClr val="180F9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Verdana" panose="020B0604030504040204" pitchFamily="34" charset="0"/>
                  <a:ea typeface="Verdana" panose="020B0604030504040204" pitchFamily="34" charset="0"/>
                </a:rPr>
                <a:t>Database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1B1547-2A28-B093-B382-9D195A53183C}"/>
                </a:ext>
              </a:extLst>
            </p:cNvPr>
            <p:cNvCxnSpPr>
              <a:cxnSpLocks/>
            </p:cNvCxnSpPr>
            <p:nvPr/>
          </p:nvCxnSpPr>
          <p:spPr>
            <a:xfrm>
              <a:off x="4447508" y="3395004"/>
              <a:ext cx="667375" cy="512231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4CA40EB-2A61-8F28-7096-2E78C8B4CF40}"/>
                </a:ext>
              </a:extLst>
            </p:cNvPr>
            <p:cNvCxnSpPr>
              <a:cxnSpLocks/>
            </p:cNvCxnSpPr>
            <p:nvPr/>
          </p:nvCxnSpPr>
          <p:spPr>
            <a:xfrm>
              <a:off x="4419742" y="4216658"/>
              <a:ext cx="640080" cy="0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F7923F5-2368-C3E7-6DE7-7B726814AB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2315" y="4460250"/>
              <a:ext cx="725884" cy="894965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409FE22-24B3-F2D2-0E1E-3A96C8C3F845}"/>
                </a:ext>
              </a:extLst>
            </p:cNvPr>
            <p:cNvCxnSpPr>
              <a:cxnSpLocks/>
            </p:cNvCxnSpPr>
            <p:nvPr/>
          </p:nvCxnSpPr>
          <p:spPr>
            <a:xfrm>
              <a:off x="5411511" y="2788493"/>
              <a:ext cx="0" cy="1005840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4A393EB-B918-5D0C-C010-80BAE59E5221}"/>
                </a:ext>
              </a:extLst>
            </p:cNvPr>
            <p:cNvCxnSpPr/>
            <p:nvPr/>
          </p:nvCxnSpPr>
          <p:spPr>
            <a:xfrm>
              <a:off x="7094264" y="4168288"/>
              <a:ext cx="548640" cy="0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8466204-2FA2-EE9D-58DA-88E479C8376B}"/>
                </a:ext>
              </a:extLst>
            </p:cNvPr>
            <p:cNvCxnSpPr>
              <a:cxnSpLocks/>
            </p:cNvCxnSpPr>
            <p:nvPr/>
          </p:nvCxnSpPr>
          <p:spPr>
            <a:xfrm>
              <a:off x="8708203" y="2777475"/>
              <a:ext cx="0" cy="1005840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9A83357-179B-D625-CB22-1DEB8BDB1918}"/>
                </a:ext>
              </a:extLst>
            </p:cNvPr>
            <p:cNvCxnSpPr>
              <a:cxnSpLocks/>
            </p:cNvCxnSpPr>
            <p:nvPr/>
          </p:nvCxnSpPr>
          <p:spPr>
            <a:xfrm>
              <a:off x="11619425" y="2463474"/>
              <a:ext cx="0" cy="1280160"/>
            </a:xfrm>
            <a:prstGeom prst="line">
              <a:avLst/>
            </a:prstGeom>
            <a:ln w="57150">
              <a:solidFill>
                <a:srgbClr val="98061E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4858A13-3C4C-ADC4-5F93-F784BE74E2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83648" y="2468453"/>
              <a:ext cx="2148840" cy="0"/>
            </a:xfrm>
            <a:prstGeom prst="line">
              <a:avLst/>
            </a:prstGeom>
            <a:ln w="57150">
              <a:solidFill>
                <a:srgbClr val="98061E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Double Bracket 24">
              <a:extLst>
                <a:ext uri="{FF2B5EF4-FFF2-40B4-BE49-F238E27FC236}">
                  <a16:creationId xmlns:a16="http://schemas.microsoft.com/office/drawing/2014/main" id="{022305E2-B72D-BC3B-1188-C93DC2CEDF3D}"/>
                </a:ext>
              </a:extLst>
            </p:cNvPr>
            <p:cNvSpPr/>
            <p:nvPr/>
          </p:nvSpPr>
          <p:spPr>
            <a:xfrm>
              <a:off x="334165" y="2670129"/>
              <a:ext cx="1764813" cy="3093058"/>
            </a:xfrm>
            <a:prstGeom prst="bracketPair">
              <a:avLst/>
            </a:prstGeom>
            <a:solidFill>
              <a:srgbClr val="304B7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Verdana" panose="020B0604030504040204" pitchFamily="34" charset="0"/>
                  <a:ea typeface="Verdana" panose="020B0604030504040204" pitchFamily="34" charset="0"/>
                </a:rPr>
                <a:t>Receptionist/</a:t>
              </a:r>
            </a:p>
            <a:p>
              <a:pPr algn="ctr"/>
              <a:r>
                <a:rPr lang="en-US" dirty="0" smtClean="0">
                  <a:latin typeface="Verdana" panose="020B0604030504040204" pitchFamily="34" charset="0"/>
                  <a:ea typeface="Verdana" panose="020B0604030504040204" pitchFamily="34" charset="0"/>
                </a:rPr>
                <a:t>Roles</a:t>
              </a:r>
              <a:endParaRPr lang="en-US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7" name="Double Bracket 26">
              <a:extLst>
                <a:ext uri="{FF2B5EF4-FFF2-40B4-BE49-F238E27FC236}">
                  <a16:creationId xmlns:a16="http://schemas.microsoft.com/office/drawing/2014/main" id="{022305E2-B72D-BC3B-1188-C93DC2CEDF3D}"/>
                </a:ext>
              </a:extLst>
            </p:cNvPr>
            <p:cNvSpPr/>
            <p:nvPr/>
          </p:nvSpPr>
          <p:spPr>
            <a:xfrm>
              <a:off x="4514995" y="1242192"/>
              <a:ext cx="3029661" cy="481055"/>
            </a:xfrm>
            <a:prstGeom prst="bracketPair">
              <a:avLst/>
            </a:prstGeom>
            <a:solidFill>
              <a:srgbClr val="304B7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latin typeface="Verdana" panose="020B0604030504040204" pitchFamily="34" charset="0"/>
                  <a:ea typeface="Verdana" panose="020B0604030504040204" pitchFamily="34" charset="0"/>
                </a:rPr>
                <a:t>ADMIN /Roles</a:t>
              </a:r>
              <a:endParaRPr lang="en-US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409FE22-24B3-F2D2-0E1E-3A96C8C3F845}"/>
                </a:ext>
              </a:extLst>
            </p:cNvPr>
            <p:cNvCxnSpPr>
              <a:cxnSpLocks/>
            </p:cNvCxnSpPr>
            <p:nvPr/>
          </p:nvCxnSpPr>
          <p:spPr>
            <a:xfrm>
              <a:off x="6780265" y="2788493"/>
              <a:ext cx="0" cy="1005840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A393EB-B918-5D0C-C010-80BAE59E5221}"/>
                </a:ext>
              </a:extLst>
            </p:cNvPr>
            <p:cNvCxnSpPr/>
            <p:nvPr/>
          </p:nvCxnSpPr>
          <p:spPr>
            <a:xfrm>
              <a:off x="2098978" y="5320911"/>
              <a:ext cx="457200" cy="0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A393EB-B918-5D0C-C010-80BAE59E5221}"/>
                </a:ext>
              </a:extLst>
            </p:cNvPr>
            <p:cNvCxnSpPr/>
            <p:nvPr/>
          </p:nvCxnSpPr>
          <p:spPr>
            <a:xfrm>
              <a:off x="2098978" y="4286234"/>
              <a:ext cx="457200" cy="0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A393EB-B918-5D0C-C010-80BAE59E5221}"/>
                </a:ext>
              </a:extLst>
            </p:cNvPr>
            <p:cNvCxnSpPr/>
            <p:nvPr/>
          </p:nvCxnSpPr>
          <p:spPr>
            <a:xfrm>
              <a:off x="2098978" y="3332742"/>
              <a:ext cx="457200" cy="0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4A393EB-B918-5D0C-C010-80BAE59E5221}"/>
                </a:ext>
              </a:extLst>
            </p:cNvPr>
            <p:cNvCxnSpPr/>
            <p:nvPr/>
          </p:nvCxnSpPr>
          <p:spPr>
            <a:xfrm>
              <a:off x="9622972" y="4157694"/>
              <a:ext cx="548640" cy="0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409FE22-24B3-F2D2-0E1E-3A96C8C3F845}"/>
                </a:ext>
              </a:extLst>
            </p:cNvPr>
            <p:cNvCxnSpPr>
              <a:cxnSpLocks/>
            </p:cNvCxnSpPr>
            <p:nvPr/>
          </p:nvCxnSpPr>
          <p:spPr>
            <a:xfrm>
              <a:off x="5424574" y="1704276"/>
              <a:ext cx="0" cy="365760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409FE22-24B3-F2D2-0E1E-3A96C8C3F845}"/>
                </a:ext>
              </a:extLst>
            </p:cNvPr>
            <p:cNvCxnSpPr>
              <a:cxnSpLocks/>
            </p:cNvCxnSpPr>
            <p:nvPr/>
          </p:nvCxnSpPr>
          <p:spPr>
            <a:xfrm>
              <a:off x="6780265" y="1723247"/>
              <a:ext cx="0" cy="365760"/>
            </a:xfrm>
            <a:prstGeom prst="line">
              <a:avLst/>
            </a:prstGeom>
            <a:ln w="57150">
              <a:solidFill>
                <a:srgbClr val="98061E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762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C00FF-6C4E-87DA-0593-D53C35654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33E0D8-4DC3-4428-C068-D26B9CDE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z="1800" smtClean="0">
                <a:latin typeface="Verdana" panose="020B0604030504040204" pitchFamily="34" charset="0"/>
                <a:ea typeface="Verdana" panose="020B0604030504040204" pitchFamily="34" charset="0"/>
              </a:rPr>
              <a:pPr/>
              <a:t>5</a:t>
            </a:fld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F4EF7C-3462-95FC-7CB0-BD4BB99E8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3" y="0"/>
            <a:ext cx="12169792" cy="63395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04222B-99A9-5FC5-1754-724BBD0EBC6A}"/>
              </a:ext>
            </a:extLst>
          </p:cNvPr>
          <p:cNvSpPr txBox="1"/>
          <p:nvPr/>
        </p:nvSpPr>
        <p:spPr>
          <a:xfrm>
            <a:off x="412650" y="138061"/>
            <a:ext cx="11017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Technologies Used to Build an HMS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82C57-9596-F4F4-196D-F6D2289B8E12}"/>
              </a:ext>
            </a:extLst>
          </p:cNvPr>
          <p:cNvSpPr txBox="1"/>
          <p:nvPr/>
        </p:nvSpPr>
        <p:spPr>
          <a:xfrm>
            <a:off x="412651" y="1090838"/>
            <a:ext cx="26571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Frontend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fontAlgn="base"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HTML </a:t>
            </a:r>
          </a:p>
          <a:p>
            <a:pPr marL="457200" indent="-457200" fontAlgn="base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Tailwind CSS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fontAlgn="base"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JavaScript </a:t>
            </a:r>
          </a:p>
          <a:p>
            <a:pPr fontAlgn="base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582CF3-7EE7-65B1-F2BA-EE250D185B4E}"/>
              </a:ext>
            </a:extLst>
          </p:cNvPr>
          <p:cNvSpPr txBox="1"/>
          <p:nvPr/>
        </p:nvSpPr>
        <p:spPr>
          <a:xfrm>
            <a:off x="412651" y="3347419"/>
            <a:ext cx="26571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Backend logic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</a:p>
          <a:p>
            <a:pPr marL="457200" indent="-457200" fontAlgn="base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Node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J</a:t>
            </a:r>
            <a:r>
              <a:rPr lang="en-U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fontAlgn="base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Express </a:t>
            </a:r>
            <a:r>
              <a:rPr lang="en-U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Js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A4F91-A6D6-F5E8-DD55-88C20A8A4EE5}"/>
              </a:ext>
            </a:extLst>
          </p:cNvPr>
          <p:cNvSpPr txBox="1"/>
          <p:nvPr/>
        </p:nvSpPr>
        <p:spPr>
          <a:xfrm>
            <a:off x="5046952" y="1234529"/>
            <a:ext cx="5769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Database: 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 fontAlgn="base"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MSSQL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Server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80563A-BDB4-CEB1-7801-523EB0330DB9}"/>
              </a:ext>
            </a:extLst>
          </p:cNvPr>
          <p:cNvSpPr txBox="1"/>
          <p:nvPr/>
        </p:nvSpPr>
        <p:spPr>
          <a:xfrm>
            <a:off x="5046953" y="3376872"/>
            <a:ext cx="6897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Additional Technologies </a:t>
            </a:r>
          </a:p>
          <a:p>
            <a:pPr marL="457200" indent="-457200" fontAlgn="base"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Face Recognition--&gt; 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Python + OpenCV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1501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EDE1A-3635-6BB6-8187-298C2640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75B4DF-7144-5603-D7FF-B2BB6320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56D81-ED03-47E3-A033-4F239A0BC014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A987BED-9345-F28F-8946-9BAF1FBA94F7}"/>
              </a:ext>
            </a:extLst>
          </p:cNvPr>
          <p:cNvGrpSpPr/>
          <p:nvPr/>
        </p:nvGrpSpPr>
        <p:grpSpPr>
          <a:xfrm>
            <a:off x="2862903" y="1829558"/>
            <a:ext cx="6466194" cy="4483281"/>
            <a:chOff x="2862903" y="1829558"/>
            <a:chExt cx="6466194" cy="448328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5159710-FF7E-BD32-CD64-2E15EDF1E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250" y="3455339"/>
              <a:ext cx="2857500" cy="28575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037D7B-B2CD-F11F-96D0-B0A637BF9BC1}"/>
                </a:ext>
              </a:extLst>
            </p:cNvPr>
            <p:cNvSpPr txBox="1"/>
            <p:nvPr/>
          </p:nvSpPr>
          <p:spPr>
            <a:xfrm>
              <a:off x="2862903" y="1829558"/>
              <a:ext cx="6466194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500" dirty="0">
                  <a:solidFill>
                    <a:srgbClr val="E81C28"/>
                  </a:solidFill>
                </a:rPr>
                <a:t>Thank you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708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Amtel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C902EBFC-DAE5-4680-8E71-1CBD095E7DB6}" vid="{C60CA703-85D6-4FF0-A298-33EA9AB8E5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 Maamaan-Template__May202</Template>
  <TotalTime>146</TotalTime>
  <Words>249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Gill Sans MT</vt:lpstr>
      <vt:lpstr>Verdana</vt:lpstr>
      <vt:lpstr>Wingdings</vt:lpstr>
      <vt:lpstr>Theme_Amtel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Abdirahman mohammed abdirahman</dc:creator>
  <cp:keywords>Standard NFV architecture.</cp:keywords>
  <cp:lastModifiedBy>Maamaan</cp:lastModifiedBy>
  <cp:revision>18</cp:revision>
  <dcterms:created xsi:type="dcterms:W3CDTF">2026-05-11T13:37:08Z</dcterms:created>
  <dcterms:modified xsi:type="dcterms:W3CDTF">2026-06-19T19:31:22Z</dcterms:modified>
</cp:coreProperties>
</file>